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7"/>
  </p:notesMasterIdLst>
  <p:sldIdLst>
    <p:sldId id="283" r:id="rId2"/>
    <p:sldId id="257" r:id="rId3"/>
    <p:sldId id="282" r:id="rId4"/>
    <p:sldId id="284" r:id="rId5"/>
    <p:sldId id="285" r:id="rId6"/>
    <p:sldId id="281" r:id="rId7"/>
    <p:sldId id="279" r:id="rId8"/>
    <p:sldId id="288" r:id="rId9"/>
    <p:sldId id="262" r:id="rId10"/>
    <p:sldId id="264" r:id="rId11"/>
    <p:sldId id="278" r:id="rId12"/>
    <p:sldId id="286" r:id="rId13"/>
    <p:sldId id="287" r:id="rId14"/>
    <p:sldId id="280" r:id="rId15"/>
    <p:sldId id="276" r:id="rId1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86"/>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110856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vishkatyan/SRMIST-SyllabusToQuizGenerator.git"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4185867209"/>
              </p:ext>
            </p:extLst>
          </p:nvPr>
        </p:nvGraphicFramePr>
        <p:xfrm>
          <a:off x="1299255" y="2699931"/>
          <a:ext cx="9394989" cy="1725440"/>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274678">
                  <a:extLst>
                    <a:ext uri="{9D8B030D-6E8A-4147-A177-3AD203B41FA5}">
                      <a16:colId xmlns:a16="http://schemas.microsoft.com/office/drawing/2014/main" val="20002"/>
                    </a:ext>
                  </a:extLst>
                </a:gridCol>
                <a:gridCol w="3039035">
                  <a:extLst>
                    <a:ext uri="{9D8B030D-6E8A-4147-A177-3AD203B41FA5}">
                      <a16:colId xmlns:a16="http://schemas.microsoft.com/office/drawing/2014/main" val="20003"/>
                    </a:ext>
                  </a:extLst>
                </a:gridCol>
                <a:gridCol w="2016409">
                  <a:extLst>
                    <a:ext uri="{9D8B030D-6E8A-4147-A177-3AD203B41FA5}">
                      <a16:colId xmlns:a16="http://schemas.microsoft.com/office/drawing/2014/main" val="20004"/>
                    </a:ext>
                  </a:extLst>
                </a:gridCol>
              </a:tblGrid>
              <a:tr h="774879">
                <a:tc>
                  <a:txBody>
                    <a:bodyPr/>
                    <a:lstStyle/>
                    <a:p>
                      <a:pPr marL="0" marR="0" lvl="0" indent="0" algn="ctr" rtl="0">
                        <a:spcBef>
                          <a:spcPts val="0"/>
                        </a:spcBef>
                        <a:spcAft>
                          <a:spcPts val="0"/>
                        </a:spcAft>
                        <a:buNone/>
                      </a:pPr>
                      <a:r>
                        <a:rPr lang="en-US" sz="1800" u="none" strike="noStrike" cap="none" dirty="0"/>
                        <a:t>Faculty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950561">
                <a:tc>
                  <a:txBody>
                    <a:bodyPr/>
                    <a:lstStyle/>
                    <a:p>
                      <a:pPr marL="0" marR="0" lvl="0" indent="0" algn="ctr" rtl="0">
                        <a:spcBef>
                          <a:spcPts val="0"/>
                        </a:spcBef>
                        <a:spcAft>
                          <a:spcPts val="0"/>
                        </a:spcAft>
                        <a:buNone/>
                      </a:pPr>
                      <a:r>
                        <a:rPr lang="en-US" sz="1400" dirty="0"/>
                        <a:t>Ms. Vishakha Sharma</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4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400" dirty="0"/>
                        <a:t>sharmavishakha1209@gmail.com</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400" dirty="0"/>
                        <a:t>+91 6395235636</a:t>
                      </a:r>
                      <a:endParaRPr sz="14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Syllabus to Quiz Generator</a:t>
            </a:r>
            <a:endParaRPr lang="en-IN" sz="24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78313"/>
          </a:xfrm>
          <a:prstGeom prst="rect">
            <a:avLst/>
          </a:prstGeom>
          <a:noFill/>
        </p:spPr>
        <p:txBody>
          <a:bodyPr wrap="square" rtlCol="0">
            <a:spAutoFit/>
          </a:bodyPr>
          <a:lstStyle/>
          <a:p>
            <a:pPr fontAlgn="base"/>
            <a:r>
              <a:rPr lang="en-US" b="1" dirty="0"/>
              <a:t>Problem Statement : Syllabus to Quiz Generator</a:t>
            </a:r>
            <a:endParaRPr lang="en-US" dirty="0"/>
          </a:p>
          <a:p>
            <a:pPr fontAlgn="base"/>
            <a:endParaRPr lang="en-US" b="1" dirty="0"/>
          </a:p>
          <a:p>
            <a:pPr fontAlgn="base"/>
            <a:r>
              <a:rPr lang="en-US" b="1" dirty="0"/>
              <a:t>The Challenge</a:t>
            </a:r>
            <a:br>
              <a:rPr lang="en-US" dirty="0"/>
            </a:br>
            <a:r>
              <a:rPr lang="en-US" dirty="0"/>
              <a:t>Students and educators often struggle to convert large, unstructured syllabus content into meaningful assessments. Syllabi may include textbooks, lecture notes, PDFs, and slides spread across multiple sources, making it difficult to identify key concepts and generate relevant questions. Manual quiz creation is time-consuming, inconsistent in quality, and often lacks alignment with learning objectives or difficulty levels. Additionally, adapting quizzes for different learners and tracking progress adds further complexity. </a:t>
            </a:r>
          </a:p>
          <a:p>
            <a:pPr fontAlgn="base"/>
            <a:endParaRPr lang="en-US" dirty="0"/>
          </a:p>
          <a:p>
            <a:pPr fontAlgn="base"/>
            <a:r>
              <a:rPr lang="en-US" b="1" dirty="0"/>
              <a:t>The Objective </a:t>
            </a:r>
          </a:p>
          <a:p>
            <a:r>
              <a:rPr lang="en-US" dirty="0"/>
              <a:t>Build an agentic AI-powered Syllabus-to-Quiz Generator that acts as an intelligent assessment assistant. The solution should:</a:t>
            </a:r>
          </a:p>
          <a:p>
            <a:endParaRPr lang="en-US" sz="800" dirty="0"/>
          </a:p>
          <a:p>
            <a:pPr>
              <a:buFont typeface="+mj-lt"/>
              <a:buAutoNum type="arabicPeriod"/>
            </a:pPr>
            <a:r>
              <a:rPr lang="en-US" b="1" dirty="0"/>
              <a:t>Transform Syllabus into Structured Content</a:t>
            </a:r>
            <a:r>
              <a:rPr lang="en-US" dirty="0"/>
              <a:t> – Extract and organize topics, subtopics, and key concepts from syllabus documents and learning materials. </a:t>
            </a:r>
          </a:p>
          <a:p>
            <a:pPr>
              <a:buFont typeface="+mj-lt"/>
              <a:buAutoNum type="arabicPeriod"/>
            </a:pPr>
            <a:endParaRPr lang="en-US" sz="900" dirty="0"/>
          </a:p>
          <a:p>
            <a:pPr>
              <a:buFont typeface="+mj-lt"/>
              <a:buAutoNum type="arabicPeriod"/>
            </a:pPr>
            <a:r>
              <a:rPr lang="en-US" b="1" dirty="0"/>
              <a:t>Automate Quiz Generation</a:t>
            </a:r>
            <a:r>
              <a:rPr lang="en-US" dirty="0"/>
              <a:t> – Generate high-quality quizzes (MCQs, short answers, descriptive) aligned with difficulty levels and learning outcomes. </a:t>
            </a:r>
          </a:p>
          <a:p>
            <a:pPr>
              <a:buFont typeface="+mj-lt"/>
              <a:buAutoNum type="arabicPeriod"/>
            </a:pPr>
            <a:endParaRPr lang="en-US" sz="900" dirty="0"/>
          </a:p>
          <a:p>
            <a:pPr>
              <a:buFont typeface="+mj-lt"/>
              <a:buAutoNum type="arabicPeriod"/>
            </a:pPr>
            <a:r>
              <a:rPr lang="en-US" b="1" dirty="0"/>
              <a:t>Enable Adaptive Assessment</a:t>
            </a:r>
            <a:r>
              <a:rPr lang="en-US" dirty="0"/>
              <a:t> – Adjust question difficulty based on user performance and learning progress. </a:t>
            </a:r>
          </a:p>
          <a:p>
            <a:pPr>
              <a:buFont typeface="+mj-lt"/>
              <a:buAutoNum type="arabicPeriod"/>
            </a:pPr>
            <a:endParaRPr lang="en-US" sz="900" dirty="0"/>
          </a:p>
          <a:p>
            <a:pPr>
              <a:buFont typeface="+mj-lt"/>
              <a:buAutoNum type="arabicPeriod"/>
            </a:pPr>
            <a:r>
              <a:rPr lang="en-US" b="1" dirty="0"/>
              <a:t>Support Multimodal Inputs</a:t>
            </a:r>
            <a:r>
              <a:rPr lang="en-US" dirty="0"/>
              <a:t> – Accept PDFs, lecture notes, images, and text to generate quizzes from diverse educational content. </a:t>
            </a:r>
          </a:p>
          <a:p>
            <a:pPr>
              <a:buFont typeface="+mj-lt"/>
              <a:buAutoNum type="arabicPeriod"/>
            </a:pPr>
            <a:endParaRPr lang="en-US" sz="900" dirty="0"/>
          </a:p>
          <a:p>
            <a:pPr>
              <a:buFont typeface="+mj-lt"/>
              <a:buAutoNum type="arabicPeriod"/>
            </a:pPr>
            <a:r>
              <a:rPr lang="en-US" b="1" dirty="0"/>
              <a:t>Provide Feedback &amp; Analytics</a:t>
            </a:r>
            <a:r>
              <a:rPr lang="en-US" dirty="0"/>
              <a:t> – Offer instant evaluation, explanations, and performance insights through interactive dashboards. </a:t>
            </a:r>
          </a:p>
          <a:p>
            <a:pPr>
              <a:buFont typeface="+mj-lt"/>
              <a:buAutoNum type="arabicPeriod"/>
            </a:pPr>
            <a:endParaRPr lang="en-US" sz="900" dirty="0"/>
          </a:p>
          <a:p>
            <a:pPr>
              <a:buFont typeface="+mj-lt"/>
              <a:buAutoNum type="arabicPeriod"/>
            </a:pPr>
            <a:r>
              <a:rPr lang="en-US" b="1" dirty="0"/>
              <a:t>Ensure Personalization</a:t>
            </a:r>
            <a:r>
              <a:rPr lang="en-US" dirty="0"/>
              <a:t> – Tailor quizzes based on student level, subject focus, and exam requirements. </a:t>
            </a:r>
          </a:p>
          <a:p>
            <a:r>
              <a:rPr lang="en-US" dirty="0"/>
              <a:t>This enables a smart, scalable, and efficient system that simplifies assessment creation while improving learning outcomes.</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85800" y="1165753"/>
            <a:ext cx="10607040" cy="1600438"/>
          </a:xfrm>
          <a:prstGeom prst="rect">
            <a:avLst/>
          </a:prstGeom>
          <a:noFill/>
        </p:spPr>
        <p:txBody>
          <a:bodyPr wrap="square" rtlCol="0">
            <a:spAutoFit/>
          </a:bodyPr>
          <a:lstStyle/>
          <a:p>
            <a:pPr fontAlgn="base"/>
            <a:endParaRPr lang="en-US" b="1" dirty="0"/>
          </a:p>
          <a:p>
            <a:pPr fontAlgn="base"/>
            <a:r>
              <a:rPr lang="en-IN" dirty="0" err="1"/>
              <a:t>LangFlow</a:t>
            </a:r>
            <a:r>
              <a:rPr lang="en-IN" dirty="0"/>
              <a:t> + IBM watsonx.ai + Granite Models </a:t>
            </a:r>
          </a:p>
          <a:p>
            <a:pPr marL="285750" indent="-285750" fontAlgn="base">
              <a:buFont typeface="Arial" panose="020B0604020202020204" pitchFamily="34" charset="0"/>
              <a:buChar char="•"/>
            </a:pPr>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32311"/>
          </a:xfrm>
          <a:prstGeom prst="rect">
            <a:avLst/>
          </a:prstGeom>
          <a:noFill/>
        </p:spPr>
        <p:txBody>
          <a:bodyPr wrap="square" rtlCol="0">
            <a:spAutoFit/>
          </a:bodyPr>
          <a:lstStyle/>
          <a:p>
            <a:r>
              <a:rPr lang="en-US" sz="1200" b="1" dirty="0"/>
              <a:t>Proposed Solution: AI-Powered Syllabus-to-Quiz Agent</a:t>
            </a:r>
          </a:p>
          <a:p>
            <a:br>
              <a:rPr lang="en-US" sz="1200" dirty="0"/>
            </a:br>
            <a:r>
              <a:rPr lang="en-US" sz="1200" dirty="0"/>
              <a:t>The proposed solution is a multi-agent AI-powered Syllabus-to-Quiz Generator built using </a:t>
            </a:r>
            <a:r>
              <a:rPr lang="en-US" sz="1200" dirty="0" err="1"/>
              <a:t>LangFlow</a:t>
            </a:r>
            <a:r>
              <a:rPr lang="en-US" sz="1200" dirty="0"/>
              <a:t>, IBM watsonx.ai, and Granite Models to automate the creation of high-quality assessments from structured and unstructured learning materials. The system addresses challenges in manual quiz creation, content alignment, and adaptive assessment through an intelligent, modular architecture.</a:t>
            </a:r>
          </a:p>
          <a:p>
            <a:endParaRPr lang="en-US" sz="1200" dirty="0"/>
          </a:p>
          <a:p>
            <a:r>
              <a:rPr lang="en-US" sz="1200" dirty="0"/>
              <a:t>At its core, the solution uses a Retrieval-Augmented Generation (RAG) pipeline to extract and process syllabus content from sources such as PDFs, lecture notes, textbooks, and slides. The content is segmented, embedded, and stored in a vector database, enabling accurate retrieval of key topics and concepts for quiz generation.</a:t>
            </a:r>
          </a:p>
          <a:p>
            <a:endParaRPr lang="en-US" sz="1200" dirty="0"/>
          </a:p>
          <a:p>
            <a:r>
              <a:rPr lang="en-US" sz="1200" dirty="0"/>
              <a:t>The system consists of four key agents:</a:t>
            </a:r>
          </a:p>
          <a:p>
            <a:endParaRPr lang="en-US" sz="1200" dirty="0"/>
          </a:p>
          <a:p>
            <a:pPr marL="171450" indent="-171450">
              <a:buFont typeface="Arial" panose="020B0604020202020204" pitchFamily="34" charset="0"/>
              <a:buChar char="•"/>
            </a:pPr>
            <a:r>
              <a:rPr lang="en-US" sz="1200" b="1" dirty="0"/>
              <a:t>Content Extraction Agent</a:t>
            </a:r>
            <a:r>
              <a:rPr lang="en-US" sz="1200" dirty="0"/>
              <a:t> processes syllabus materials (PDFs, notes, images) and converts them into structured topics, subtopics, and key learning points.</a:t>
            </a:r>
          </a:p>
          <a:p>
            <a:pPr marL="171450" indent="-171450">
              <a:buFont typeface="Arial" panose="020B0604020202020204" pitchFamily="34" charset="0"/>
              <a:buChar char="•"/>
            </a:pPr>
            <a:r>
              <a:rPr lang="en-US" sz="1200" b="1" dirty="0"/>
              <a:t>Quiz Generation Agent</a:t>
            </a:r>
            <a:r>
              <a:rPr lang="en-US" sz="1200" dirty="0"/>
              <a:t> creates diverse question types (MCQs, short answers, descriptive questions) aligned with difficulty levels and learning objectives.</a:t>
            </a:r>
          </a:p>
          <a:p>
            <a:pPr marL="171450" indent="-171450">
              <a:buFont typeface="Arial" panose="020B0604020202020204" pitchFamily="34" charset="0"/>
              <a:buChar char="•"/>
            </a:pPr>
            <a:r>
              <a:rPr lang="en-US" sz="1200" b="1" dirty="0"/>
              <a:t>Adaptive Assessment Agent</a:t>
            </a:r>
            <a:r>
              <a:rPr lang="en-US" sz="1200" dirty="0"/>
              <a:t> adjusts question difficulty and selection based on user performance, ensuring personalized learning experiences.</a:t>
            </a:r>
          </a:p>
          <a:p>
            <a:pPr marL="171450" indent="-171450">
              <a:buFont typeface="Arial" panose="020B0604020202020204" pitchFamily="34" charset="0"/>
              <a:buChar char="•"/>
            </a:pPr>
            <a:r>
              <a:rPr lang="en-US" sz="1200" b="1" dirty="0"/>
              <a:t>Evaluation &amp; Feedback Agent</a:t>
            </a:r>
            <a:r>
              <a:rPr lang="en-US" sz="1200" dirty="0"/>
              <a:t> analyzes user responses, provides instant scoring, detailed explanations, and actionable feedback to improve understanding.</a:t>
            </a:r>
          </a:p>
          <a:p>
            <a:endParaRPr lang="en-US" sz="1200" dirty="0"/>
          </a:p>
          <a:p>
            <a:r>
              <a:rPr lang="en-US" sz="1200" dirty="0"/>
              <a:t>The solution includes a user-friendly interface (built with </a:t>
            </a:r>
            <a:r>
              <a:rPr lang="en-US" sz="1200" dirty="0" err="1"/>
              <a:t>Streamlit</a:t>
            </a:r>
            <a:r>
              <a:rPr lang="en-US" sz="1200" dirty="0"/>
              <a:t> or React) that allows users to upload syllabus content, generate quizzes, and visualize performance analytics. Dashboards display accuracy trends, topic-wise strengths and weaknesses, and learning progress over time.</a:t>
            </a:r>
          </a:p>
          <a:p>
            <a:endParaRPr lang="en-US" sz="1200" dirty="0"/>
          </a:p>
          <a:p>
            <a:r>
              <a:rPr lang="en-US" sz="1200" dirty="0" err="1"/>
              <a:t>LangFlow</a:t>
            </a:r>
            <a:r>
              <a:rPr lang="en-US" sz="1200" dirty="0"/>
              <a:t> orchestrates agent workflows and manages interactions between components, while watsonx.ai ensures scalable model deployment, embeddings, and governance. Granite models power content understanding, question generation, and adaptive reasoning.</a:t>
            </a:r>
          </a:p>
          <a:p>
            <a:endParaRPr lang="en-US" sz="1200" dirty="0"/>
          </a:p>
          <a:p>
            <a:r>
              <a:rPr lang="en-US" sz="1200" dirty="0"/>
              <a:t>Overall, this solution delivers an end-to-end intelligent assessment system that transforms syllabus content into interactive, personalized quizzes—enhancing both teaching efficiency and student learning outcomes.</a:t>
            </a:r>
          </a:p>
          <a:p>
            <a:pPr fontAlgn="base"/>
            <a:endParaRPr lang="en-US" sz="1200" dirty="0"/>
          </a:p>
          <a:p>
            <a:endParaRPr lang="en-IN" sz="1200"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698938" y="952834"/>
            <a:ext cx="9753907" cy="3539430"/>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a:t>
            </a:r>
            <a:r>
              <a:rPr lang="en-US" b="1" dirty="0" err="1"/>
              <a:t>watsonx</a:t>
            </a:r>
            <a:r>
              <a:rPr lang="en-US" b="1" dirty="0"/>
              <a:t>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Granite-4.0-8B-Instruct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4EA7B1F0-A891-4C12-9E02-08B96FD10BFB}"/>
              </a:ext>
            </a:extLst>
          </p:cNvPr>
          <p:cNvPicPr>
            <a:picLocks noChangeAspect="1"/>
          </p:cNvPicPr>
          <p:nvPr/>
        </p:nvPicPr>
        <p:blipFill>
          <a:blip r:embed="rId3"/>
          <a:stretch>
            <a:fillRect/>
          </a:stretch>
        </p:blipFill>
        <p:spPr>
          <a:xfrm>
            <a:off x="949967" y="951480"/>
            <a:ext cx="9879398" cy="5583281"/>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Output-</a:t>
            </a:r>
            <a:endParaRPr sz="2400" b="1" dirty="0">
              <a:sym typeface="Times New Roman"/>
            </a:endParaRPr>
          </a:p>
        </p:txBody>
      </p:sp>
      <p:pic>
        <p:nvPicPr>
          <p:cNvPr id="4" name="Picture 3">
            <a:extLst>
              <a:ext uri="{FF2B5EF4-FFF2-40B4-BE49-F238E27FC236}">
                <a16:creationId xmlns:a16="http://schemas.microsoft.com/office/drawing/2014/main" id="{A409F44F-8851-4794-A739-E90D4294C9AD}"/>
              </a:ext>
            </a:extLst>
          </p:cNvPr>
          <p:cNvPicPr>
            <a:picLocks noChangeAspect="1"/>
          </p:cNvPicPr>
          <p:nvPr/>
        </p:nvPicPr>
        <p:blipFill>
          <a:blip r:embed="rId3"/>
          <a:stretch>
            <a:fillRect/>
          </a:stretch>
        </p:blipFill>
        <p:spPr>
          <a:xfrm>
            <a:off x="1346546" y="771747"/>
            <a:ext cx="9984842" cy="5374572"/>
          </a:xfrm>
          <a:prstGeom prst="rect">
            <a:avLst/>
          </a:prstGeom>
        </p:spPr>
      </p:pic>
    </p:spTree>
    <p:extLst>
      <p:ext uri="{BB962C8B-B14F-4D97-AF65-F5344CB8AC3E}">
        <p14:creationId xmlns:p14="http://schemas.microsoft.com/office/powerpoint/2010/main" val="404327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178" name="Google Shape;178;p7"/>
          <p:cNvPicPr preferRelativeResize="0"/>
          <p:nvPr/>
        </p:nvPicPr>
        <p:blipFill rotWithShape="1">
          <a:blip r:embed="rId3">
            <a:alphaModFix/>
          </a:blip>
          <a:srcRect/>
          <a:stretch/>
        </p:blipFill>
        <p:spPr>
          <a:xfrm>
            <a:off x="699152" y="1071448"/>
            <a:ext cx="10429095" cy="5612816"/>
          </a:xfrm>
          <a:prstGeom prst="rect">
            <a:avLst/>
          </a:prstGeom>
          <a:noFill/>
          <a:ln>
            <a:noFill/>
          </a:ln>
        </p:spPr>
      </p:pic>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39721" y="1167493"/>
            <a:ext cx="7406640" cy="3754874"/>
          </a:xfrm>
          <a:prstGeom prst="rect">
            <a:avLst/>
          </a:prstGeom>
          <a:noFill/>
        </p:spPr>
        <p:txBody>
          <a:bodyPr wrap="square" rtlCol="0">
            <a:spAutoFit/>
          </a:bodyPr>
          <a:lstStyle/>
          <a:p>
            <a:r>
              <a:rPr lang="en-US" b="1" dirty="0"/>
              <a:t>Role of Generative AI in Syllabus-to-Quiz Generator</a:t>
            </a:r>
          </a:p>
          <a:p>
            <a:br>
              <a:rPr lang="en-US" dirty="0"/>
            </a:br>
            <a:r>
              <a:rPr lang="en-US" dirty="0"/>
              <a:t>Generative AI enables the Syllabus-to-Quiz Generator to move beyond static question banks and function as an intelligent content creation system. Using IBM watsonx.ai and Granite Models, it dynamically generates high-quality quiz questions from syllabus content.</a:t>
            </a:r>
          </a:p>
          <a:p>
            <a:endParaRPr lang="en-US" dirty="0"/>
          </a:p>
          <a:p>
            <a:r>
              <a:rPr lang="en-US" dirty="0"/>
              <a:t>It understands and transforms unstructured inputs—such as PDFs, notes, and slides—into meaningful questions across formats like MCQs, short answers, and descriptive types. Generative AI ensures that questions are contextually relevant, aligned with learning objectives, and adaptable to different difficulty levels.</a:t>
            </a:r>
          </a:p>
          <a:p>
            <a:endParaRPr lang="en-US" dirty="0"/>
          </a:p>
          <a:p>
            <a:r>
              <a:rPr lang="en-US" dirty="0"/>
              <a:t>It also enables </a:t>
            </a:r>
            <a:r>
              <a:rPr lang="en-US" b="1" dirty="0"/>
              <a:t>personalization</a:t>
            </a:r>
            <a:r>
              <a:rPr lang="en-US" dirty="0"/>
              <a:t>, creating quizzes tailored to student performance, subject focus, and learning pace. Additionally, it provides </a:t>
            </a:r>
            <a:r>
              <a:rPr lang="en-US" b="1" dirty="0"/>
              <a:t>instant explanations and feedback</a:t>
            </a:r>
            <a:r>
              <a:rPr lang="en-US" dirty="0"/>
              <a:t>, helping learners understand concepts rather than just memorize answers.</a:t>
            </a:r>
          </a:p>
          <a:p>
            <a:endParaRPr lang="en-US" dirty="0"/>
          </a:p>
          <a:p>
            <a:r>
              <a:rPr lang="en-US" dirty="0"/>
              <a:t>Overall, Generative AI makes the system dynamic, scalable, and adaptive—turning syllabus content into interactive assessments that enhance learning and evaluation efficiency.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401205"/>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for </a:t>
            </a:r>
            <a:r>
              <a:rPr lang="en-US" sz="1800" dirty="0" err="1"/>
              <a:t>eg</a:t>
            </a:r>
            <a:r>
              <a:rPr lang="en-US" sz="1800" dirty="0"/>
              <a:t> – ibm-granite-4h-small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Research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Research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governance</a:t>
            </a: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064222"/>
            <a:ext cx="9693536" cy="5309146"/>
          </a:xfrm>
          <a:prstGeom prst="rect">
            <a:avLst/>
          </a:prstGeom>
          <a:noFill/>
        </p:spPr>
        <p:txBody>
          <a:bodyPr wrap="square" rtlCol="0">
            <a:spAutoFit/>
          </a:bodyPr>
          <a:lstStyle/>
          <a:p>
            <a:r>
              <a:rPr lang="en-IN" dirty="0"/>
              <a:t>The proposed Syllabus-to-Quiz Generator stands out by combining Agentic AI, RAG, and Generative AI into a unified intelligent assessment system.</a:t>
            </a:r>
          </a:p>
          <a:p>
            <a:endParaRPr lang="en-IN" dirty="0"/>
          </a:p>
          <a:p>
            <a:pPr marL="285750" indent="-285750">
              <a:buFont typeface="Arial" panose="020B0604020202020204" pitchFamily="34" charset="0"/>
              <a:buChar char="•"/>
            </a:pPr>
            <a:r>
              <a:rPr lang="en-IN" b="1" dirty="0"/>
              <a:t>Agentic Multi-Component System</a:t>
            </a:r>
            <a:r>
              <a:rPr lang="en-IN" dirty="0"/>
              <a:t> – Instead of a static quiz generator, multiple specialized agents work together for content extraction, question generation, evaluation, and adaptive learning.</a:t>
            </a:r>
          </a:p>
          <a:p>
            <a:pPr marL="285750" indent="-285750">
              <a:buFont typeface="Arial" panose="020B0604020202020204" pitchFamily="34" charset="0"/>
              <a:buChar char="•"/>
            </a:pPr>
            <a:endParaRPr lang="en-IN" sz="900" dirty="0"/>
          </a:p>
          <a:p>
            <a:pPr marL="285750" indent="-285750">
              <a:buFont typeface="Arial" panose="020B0604020202020204" pitchFamily="34" charset="0"/>
              <a:buChar char="•"/>
            </a:pPr>
            <a:r>
              <a:rPr lang="en-IN" b="1" dirty="0"/>
              <a:t>RAG-Driven Accuracy</a:t>
            </a:r>
            <a:r>
              <a:rPr lang="en-IN" dirty="0"/>
              <a:t> – Uses Retrieval-Augmented Generation to ensure quizzes are directly grounded in syllabus content, reducing irrelevant or hallucinated questions.</a:t>
            </a:r>
          </a:p>
          <a:p>
            <a:pPr marL="285750" indent="-285750">
              <a:buFont typeface="Arial" panose="020B0604020202020204" pitchFamily="34" charset="0"/>
              <a:buChar char="•"/>
            </a:pPr>
            <a:endParaRPr lang="en-IN" sz="900" dirty="0"/>
          </a:p>
          <a:p>
            <a:pPr marL="285750" indent="-285750">
              <a:buFont typeface="Arial" panose="020B0604020202020204" pitchFamily="34" charset="0"/>
              <a:buChar char="•"/>
            </a:pPr>
            <a:r>
              <a:rPr lang="en-IN" b="1" dirty="0"/>
              <a:t>Dynamic Generative Questioning</a:t>
            </a:r>
            <a:r>
              <a:rPr lang="en-IN" dirty="0"/>
              <a:t> – Leverages Granite Models to create diverse, high-quality questions (MCQs, descriptive, conceptual) automatically from learning material.</a:t>
            </a:r>
          </a:p>
          <a:p>
            <a:pPr marL="285750" indent="-285750">
              <a:buFont typeface="Arial" panose="020B0604020202020204" pitchFamily="34" charset="0"/>
              <a:buChar char="•"/>
            </a:pPr>
            <a:endParaRPr lang="en-IN" sz="900" dirty="0"/>
          </a:p>
          <a:p>
            <a:pPr marL="285750" indent="-285750">
              <a:buFont typeface="Arial" panose="020B0604020202020204" pitchFamily="34" charset="0"/>
              <a:buChar char="•"/>
            </a:pPr>
            <a:r>
              <a:rPr lang="en-IN" b="1" dirty="0"/>
              <a:t>Adaptive Learning Engine</a:t>
            </a:r>
            <a:r>
              <a:rPr lang="en-IN" dirty="0"/>
              <a:t> – Continuously adjusts question difficulty based on student performance, enabling personalized assessment paths.</a:t>
            </a:r>
          </a:p>
          <a:p>
            <a:pPr marL="285750" indent="-285750">
              <a:buFont typeface="Arial" panose="020B0604020202020204" pitchFamily="34" charset="0"/>
              <a:buChar char="•"/>
            </a:pPr>
            <a:endParaRPr lang="en-IN" sz="900" dirty="0"/>
          </a:p>
          <a:p>
            <a:pPr marL="285750" indent="-285750">
              <a:buFont typeface="Arial" panose="020B0604020202020204" pitchFamily="34" charset="0"/>
              <a:buChar char="•"/>
            </a:pPr>
            <a:r>
              <a:rPr lang="en-IN" b="1" dirty="0"/>
              <a:t>Multimodal Content Understanding</a:t>
            </a:r>
            <a:r>
              <a:rPr lang="en-IN" dirty="0"/>
              <a:t> – Processes PDFs, lecture notes, images, and text to generate quizzes from any type of syllabus input.</a:t>
            </a:r>
          </a:p>
          <a:p>
            <a:pPr marL="285750" indent="-285750">
              <a:buFont typeface="Arial" panose="020B0604020202020204" pitchFamily="34" charset="0"/>
              <a:buChar char="•"/>
            </a:pPr>
            <a:endParaRPr lang="en-IN" sz="900" dirty="0"/>
          </a:p>
          <a:p>
            <a:pPr marL="285750" indent="-285750">
              <a:buFont typeface="Arial" panose="020B0604020202020204" pitchFamily="34" charset="0"/>
              <a:buChar char="•"/>
            </a:pPr>
            <a:r>
              <a:rPr lang="en-IN" b="1" dirty="0"/>
              <a:t>Instant Feedback with Explanations</a:t>
            </a:r>
            <a:r>
              <a:rPr lang="en-IN" dirty="0"/>
              <a:t> – Provides real-time evaluation along with detailed reasoning for each answer, enhancing conceptual understanding.</a:t>
            </a:r>
          </a:p>
          <a:p>
            <a:pPr marL="285750" indent="-285750">
              <a:buFont typeface="Arial" panose="020B0604020202020204" pitchFamily="34" charset="0"/>
              <a:buChar char="•"/>
            </a:pPr>
            <a:endParaRPr lang="en-IN" sz="900" dirty="0"/>
          </a:p>
          <a:p>
            <a:pPr marL="285750" indent="-285750">
              <a:buFont typeface="Arial" panose="020B0604020202020204" pitchFamily="34" charset="0"/>
              <a:buChar char="•"/>
            </a:pPr>
            <a:r>
              <a:rPr lang="en-IN" b="1" dirty="0"/>
              <a:t>Scalable &amp; Intelligent Architecture</a:t>
            </a:r>
            <a:r>
              <a:rPr lang="en-IN" dirty="0"/>
              <a:t> – Built using IBM watsonx.ai, ensuring secure, scalable, and enterprise-ready deployment.</a:t>
            </a:r>
          </a:p>
          <a:p>
            <a:endParaRPr lang="en-IN" dirty="0"/>
          </a:p>
          <a:p>
            <a:r>
              <a:rPr lang="en-IN" dirty="0"/>
              <a:t>This makes the solution a smart, adaptive, and fully automated assessment system that goes far beyond traditional quiz generators.</a:t>
            </a:r>
          </a:p>
        </p:txBody>
      </p:sp>
    </p:spTree>
    <p:extLst>
      <p:ext uri="{BB962C8B-B14F-4D97-AF65-F5344CB8AC3E}">
        <p14:creationId xmlns:p14="http://schemas.microsoft.com/office/powerpoint/2010/main" val="917964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dirty="0" err="1">
                <a:solidFill>
                  <a:srgbClr val="2B3541"/>
                </a:solidFill>
                <a:latin typeface="Times New Roman"/>
                <a:ea typeface="Times New Roman"/>
                <a:cs typeface="Times New Roman"/>
                <a:sym typeface="Times New Roman"/>
              </a:rPr>
              <a:t>Github</a:t>
            </a:r>
            <a:r>
              <a:rPr lang="en-US" sz="1850" dirty="0">
                <a:solidFill>
                  <a:srgbClr val="2B3541"/>
                </a:solidFill>
                <a:latin typeface="Times New Roman"/>
                <a:ea typeface="Times New Roman"/>
                <a:cs typeface="Times New Roman"/>
                <a:sym typeface="Times New Roman"/>
              </a:rPr>
              <a:t> URL – </a:t>
            </a:r>
            <a:r>
              <a:rPr lang="en-US" sz="1850" dirty="0">
                <a:solidFill>
                  <a:srgbClr val="2B3541"/>
                </a:solidFill>
                <a:latin typeface="Times New Roman"/>
                <a:ea typeface="Times New Roman"/>
                <a:cs typeface="Times New Roman"/>
                <a:sym typeface="Times New Roman"/>
                <a:hlinkClick r:id="rId3"/>
              </a:rPr>
              <a:t>https://github.com/vishkatyan/SRMIST-SyllabusToQuizGenerator.git</a:t>
            </a:r>
            <a:endParaRPr lang="en-US" sz="1850"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335265" y="1387274"/>
            <a:ext cx="9214580" cy="3848114"/>
          </a:xfrm>
          <a:prstGeom prst="rect">
            <a:avLst/>
          </a:prstGeom>
          <a:noFill/>
          <a:ln>
            <a:noFill/>
          </a:ln>
        </p:spPr>
        <p:txBody>
          <a:bodyPr spcFirstLastPara="1" wrap="square" lIns="0" tIns="0" rIns="0" bIns="0" anchor="t" anchorCtr="0">
            <a:noAutofit/>
          </a:bodyPr>
          <a:lstStyle/>
          <a:p>
            <a:r>
              <a:rPr lang="en-US" b="1" dirty="0"/>
              <a:t>Future Scope of Syllabus-to-Quiz Generator</a:t>
            </a:r>
          </a:p>
          <a:p>
            <a:endParaRPr lang="en-US" dirty="0"/>
          </a:p>
          <a:p>
            <a:pPr marL="285750" indent="-285750">
              <a:buFont typeface="Arial" panose="020B0604020202020204" pitchFamily="34" charset="0"/>
              <a:buChar char="•"/>
            </a:pPr>
            <a:r>
              <a:rPr lang="en-US" b="1" dirty="0"/>
              <a:t>AI-Driven Personalized Learning Paths</a:t>
            </a:r>
            <a:r>
              <a:rPr lang="en-US" dirty="0"/>
              <a:t> – Evolve the system into a fully adaptive learning platform that not only generates quizzes but also creates complete personalized study roadmaps based on student performance and weaknesses.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Autonomous Curriculum Intelligence</a:t>
            </a:r>
            <a:r>
              <a:rPr lang="en-US" dirty="0"/>
              <a:t> – Extend capabilities to automatically analyze entire course structures and suggest optimized syllabus redesigns, improving teaching efficiency and learning outcomes.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Voice and Conversational Assessments</a:t>
            </a:r>
            <a:r>
              <a:rPr lang="en-US" dirty="0"/>
              <a:t> – Introduce voice-based quiz interaction and chatbot-style exam simulations, enabling more natural and accessible learning experiences across devices.</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Real-Time Classroom Integration</a:t>
            </a:r>
            <a:r>
              <a:rPr lang="en-US" dirty="0"/>
              <a:t> – Integrate with Learning Management Systems (LMS) to generate live quizzes during lectures, enabling instant student engagement and feedback.</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Advanced Skill &amp; Competency Mapping</a:t>
            </a:r>
            <a:r>
              <a:rPr lang="en-US" dirty="0"/>
              <a:t> – Map quiz results to specific skills and competencies, helping educators track learning outcomes at a granular level and align them with industry requirements.</a:t>
            </a:r>
          </a:p>
        </p:txBody>
      </p:sp>
    </p:spTree>
    <p:extLst>
      <p:ext uri="{BB962C8B-B14F-4D97-AF65-F5344CB8AC3E}">
        <p14:creationId xmlns:p14="http://schemas.microsoft.com/office/powerpoint/2010/main" val="21367067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1593</TotalTime>
  <Words>1394</Words>
  <Application>Microsoft Office PowerPoint</Application>
  <PresentationFormat>Widescreen</PresentationFormat>
  <Paragraphs>130</Paragraphs>
  <Slides>15</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54</cp:revision>
  <dcterms:created xsi:type="dcterms:W3CDTF">2025-07-08T05:06:56Z</dcterms:created>
  <dcterms:modified xsi:type="dcterms:W3CDTF">2026-04-29T11:08:12Z</dcterms:modified>
</cp:coreProperties>
</file>